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DA7"/>
    <a:srgbClr val="0A4CA7"/>
    <a:srgbClr val="0A6DA7"/>
    <a:srgbClr val="0A4C7F"/>
    <a:srgbClr val="0A4CB3"/>
    <a:srgbClr val="0C4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94625"/>
  </p:normalViewPr>
  <p:slideViewPr>
    <p:cSldViewPr snapToGrid="0">
      <p:cViewPr varScale="1">
        <p:scale>
          <a:sx n="116" d="100"/>
          <a:sy n="116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F2E09-B0F1-0843-AFA9-E40F4F56BC1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A75C6-5F4F-BF4C-896F-42B57A0D5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7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A75C6-5F4F-BF4C-896F-42B57A0D5A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40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7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5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6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20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9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62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2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0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7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51473-1972-E440-BDE3-CAA3352CBFC8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A30FF-39A3-B04A-8B4B-A9DFBA02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2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bdallaheeid.atlassian.net/jira/software/projects/RSTFTNG/list?jql=project%20%3D%20RSTFTNG%20ORDER%20BY%20created%20DESC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figma.com/design/NrqAFroeY4fk8pwIpm6cPs/mengenmeldung?node-id=1-4&amp;t=dROalf7uUsJcmYbt-1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7A469C0C-9CEF-AAEB-8A90-20FC16F8A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821" y="-338958"/>
            <a:ext cx="7772400" cy="1914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DB5968-4950-20A5-8907-6F89300D2AAB}"/>
              </a:ext>
            </a:extLst>
          </p:cNvPr>
          <p:cNvSpPr txBox="1"/>
          <p:nvPr/>
        </p:nvSpPr>
        <p:spPr>
          <a:xfrm>
            <a:off x="2801007" y="2919469"/>
            <a:ext cx="6589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solidFill>
                  <a:srgbClr val="0A4CA7"/>
                </a:solidFill>
              </a:rPr>
              <a:t>Mengenmeldung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0B72B-0235-CCF9-67BB-FA90FD57E2AD}"/>
              </a:ext>
            </a:extLst>
          </p:cNvPr>
          <p:cNvSpPr txBox="1"/>
          <p:nvPr/>
        </p:nvSpPr>
        <p:spPr>
          <a:xfrm>
            <a:off x="4419600" y="3502572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176DA7"/>
                </a:solidFill>
              </a:rPr>
              <a:t>Home </a:t>
            </a:r>
            <a:r>
              <a:rPr lang="en-US" sz="2800" dirty="0">
                <a:solidFill>
                  <a:srgbClr val="176DA7"/>
                </a:solidFill>
              </a:rPr>
              <a:t>Assignment</a:t>
            </a:r>
            <a:r>
              <a:rPr lang="de-DE" sz="2800" dirty="0">
                <a:solidFill>
                  <a:srgbClr val="176DA7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F2C8C-FF9B-E8F0-E831-EB5A653FBA96}"/>
              </a:ext>
            </a:extLst>
          </p:cNvPr>
          <p:cNvSpPr txBox="1"/>
          <p:nvPr/>
        </p:nvSpPr>
        <p:spPr>
          <a:xfrm>
            <a:off x="0" y="6137159"/>
            <a:ext cx="4056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C4CA2"/>
                </a:solidFill>
              </a:rPr>
              <a:t>Präsentiert von: </a:t>
            </a:r>
            <a:r>
              <a:rPr lang="de-DE" sz="2400" b="1" dirty="0">
                <a:solidFill>
                  <a:srgbClr val="0C4CA2"/>
                </a:solidFill>
              </a:rPr>
              <a:t>Abdallah Eid</a:t>
            </a:r>
          </a:p>
        </p:txBody>
      </p:sp>
    </p:spTree>
    <p:extLst>
      <p:ext uri="{BB962C8B-B14F-4D97-AF65-F5344CB8AC3E}">
        <p14:creationId xmlns:p14="http://schemas.microsoft.com/office/powerpoint/2010/main" val="225647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BC9F36-266A-7DBC-313D-B256A2E00DB4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2D4ED1-CF5C-FDFB-2321-86A10D1F4684}"/>
              </a:ext>
            </a:extLst>
          </p:cNvPr>
          <p:cNvSpPr txBox="1"/>
          <p:nvPr/>
        </p:nvSpPr>
        <p:spPr>
          <a:xfrm>
            <a:off x="189186" y="190372"/>
            <a:ext cx="346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System Anforderungen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4A916-C3BE-940F-DB33-34F0F1C134AC}"/>
              </a:ext>
            </a:extLst>
          </p:cNvPr>
          <p:cNvSpPr txBox="1"/>
          <p:nvPr/>
        </p:nvSpPr>
        <p:spPr>
          <a:xfrm>
            <a:off x="189186" y="556331"/>
            <a:ext cx="2322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Zusammenfassung</a:t>
            </a:r>
            <a:endParaRPr lang="de-DE" sz="2400" dirty="0">
              <a:solidFill>
                <a:srgbClr val="176DA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C6F6F-B822-9947-FDAC-6ED7942D0E6F}"/>
              </a:ext>
            </a:extLst>
          </p:cNvPr>
          <p:cNvSpPr txBox="1"/>
          <p:nvPr/>
        </p:nvSpPr>
        <p:spPr>
          <a:xfrm>
            <a:off x="1644868" y="1017996"/>
            <a:ext cx="1734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76DA7"/>
                </a:solidFill>
              </a:rPr>
              <a:t>Frontend</a:t>
            </a:r>
            <a:endParaRPr lang="en-US" b="1" dirty="0">
              <a:solidFill>
                <a:srgbClr val="176DA7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0F017-477D-56C8-297D-55ADA4AC92B5}"/>
              </a:ext>
            </a:extLst>
          </p:cNvPr>
          <p:cNvSpPr txBox="1"/>
          <p:nvPr/>
        </p:nvSpPr>
        <p:spPr>
          <a:xfrm>
            <a:off x="8979172" y="1017996"/>
            <a:ext cx="1734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76DA7"/>
                </a:solidFill>
              </a:rPr>
              <a:t>Backend</a:t>
            </a:r>
            <a:endParaRPr lang="en-US" b="1" dirty="0">
              <a:solidFill>
                <a:srgbClr val="176DA7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C6D0D-F6E2-FF34-7012-FA3A0252AF80}"/>
              </a:ext>
            </a:extLst>
          </p:cNvPr>
          <p:cNvGrpSpPr/>
          <p:nvPr/>
        </p:nvGrpSpPr>
        <p:grpSpPr>
          <a:xfrm>
            <a:off x="5217073" y="3128267"/>
            <a:ext cx="1757854" cy="1736797"/>
            <a:chOff x="5193422" y="2509345"/>
            <a:chExt cx="1918137" cy="184193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80ED9A-3F06-018B-AE56-18F6900FFE43}"/>
                </a:ext>
              </a:extLst>
            </p:cNvPr>
            <p:cNvSpPr txBox="1"/>
            <p:nvPr/>
          </p:nvSpPr>
          <p:spPr>
            <a:xfrm>
              <a:off x="5193422" y="3189916"/>
              <a:ext cx="19181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>
                  <a:solidFill>
                    <a:schemeClr val="bg2">
                      <a:lumMod val="25000"/>
                    </a:schemeClr>
                  </a:solidFill>
                </a:rPr>
                <a:t>Mengenmeldung System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694272-9516-3AAD-A110-2FFD308D2090}"/>
                </a:ext>
              </a:extLst>
            </p:cNvPr>
            <p:cNvSpPr/>
            <p:nvPr/>
          </p:nvSpPr>
          <p:spPr>
            <a:xfrm>
              <a:off x="5239406" y="2509345"/>
              <a:ext cx="1826171" cy="184193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F1CFF2D-4FFE-E134-CAA8-02679E8796E6}"/>
              </a:ext>
            </a:extLst>
          </p:cNvPr>
          <p:cNvSpPr/>
          <p:nvPr/>
        </p:nvSpPr>
        <p:spPr>
          <a:xfrm>
            <a:off x="479580" y="1547726"/>
            <a:ext cx="3816569" cy="5110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A9EF9DE8-33ED-81AB-3B96-22CF96DE092F}"/>
              </a:ext>
            </a:extLst>
          </p:cNvPr>
          <p:cNvSpPr/>
          <p:nvPr/>
        </p:nvSpPr>
        <p:spPr>
          <a:xfrm rot="5400000">
            <a:off x="4628445" y="3691946"/>
            <a:ext cx="371804" cy="6094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E66445D2-47E3-133F-D010-1B332666D38C}"/>
              </a:ext>
            </a:extLst>
          </p:cNvPr>
          <p:cNvSpPr/>
          <p:nvPr/>
        </p:nvSpPr>
        <p:spPr>
          <a:xfrm rot="16200000">
            <a:off x="7271796" y="3691946"/>
            <a:ext cx="371804" cy="6094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C3B5DF5-4640-E47A-2E0D-301F685C01A8}"/>
              </a:ext>
            </a:extLst>
          </p:cNvPr>
          <p:cNvSpPr/>
          <p:nvPr/>
        </p:nvSpPr>
        <p:spPr>
          <a:xfrm>
            <a:off x="645799" y="2445095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UI zur Abgabe von Mengenmeldungen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B91CCA4-24B3-A8CE-0BCD-CE381CBC435D}"/>
              </a:ext>
            </a:extLst>
          </p:cNvPr>
          <p:cNvSpPr/>
          <p:nvPr/>
        </p:nvSpPr>
        <p:spPr>
          <a:xfrm>
            <a:off x="645799" y="3357725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UI für die Anzeige von abgegebenen Mengenmeldung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FFCEAD6-6032-4BC3-2E14-2BC7E69215D8}"/>
              </a:ext>
            </a:extLst>
          </p:cNvPr>
          <p:cNvSpPr/>
          <p:nvPr/>
        </p:nvSpPr>
        <p:spPr>
          <a:xfrm>
            <a:off x="645799" y="4270355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Automatisierte Unit Tests und E2E Tests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DC959C6-9EAD-8862-F3F0-ECC4630DF1D5}"/>
              </a:ext>
            </a:extLst>
          </p:cNvPr>
          <p:cNvSpPr/>
          <p:nvPr/>
        </p:nvSpPr>
        <p:spPr>
          <a:xfrm>
            <a:off x="683784" y="5182985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Fehlermeldungen Anzeigen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D7F811A-5A5A-095D-6017-C3A2AF694E69}"/>
              </a:ext>
            </a:extLst>
          </p:cNvPr>
          <p:cNvSpPr/>
          <p:nvPr/>
        </p:nvSpPr>
        <p:spPr>
          <a:xfrm>
            <a:off x="4558887" y="5043828"/>
            <a:ext cx="3074226" cy="66212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README.md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84D4A3F-FE47-75AA-1119-696B39D05339}"/>
              </a:ext>
            </a:extLst>
          </p:cNvPr>
          <p:cNvSpPr/>
          <p:nvPr/>
        </p:nvSpPr>
        <p:spPr>
          <a:xfrm>
            <a:off x="4558887" y="5786990"/>
            <a:ext cx="3074226" cy="58335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User Stories und Tickets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489CA9D-847C-0AC2-468E-BD75506558F4}"/>
              </a:ext>
            </a:extLst>
          </p:cNvPr>
          <p:cNvSpPr/>
          <p:nvPr/>
        </p:nvSpPr>
        <p:spPr>
          <a:xfrm>
            <a:off x="7937992" y="1547726"/>
            <a:ext cx="3816569" cy="5110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9EA7E8E-B034-E3FD-BCC9-B35F422B709F}"/>
              </a:ext>
            </a:extLst>
          </p:cNvPr>
          <p:cNvSpPr/>
          <p:nvPr/>
        </p:nvSpPr>
        <p:spPr>
          <a:xfrm>
            <a:off x="8085798" y="1880200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REST Service für FE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AF713F5-220A-695B-D625-A3913B9893DF}"/>
              </a:ext>
            </a:extLst>
          </p:cNvPr>
          <p:cNvSpPr/>
          <p:nvPr/>
        </p:nvSpPr>
        <p:spPr>
          <a:xfrm>
            <a:off x="8085797" y="2650032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BE ermöglicht die Abgabe von MM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8767182-D2F3-EF1F-1A11-A08D60223DE7}"/>
              </a:ext>
            </a:extLst>
          </p:cNvPr>
          <p:cNvSpPr/>
          <p:nvPr/>
        </p:nvSpPr>
        <p:spPr>
          <a:xfrm>
            <a:off x="8094287" y="3419864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BE persistiert abgegebene MM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A8A560D-F61F-7718-F45D-A1F1DD622915}"/>
              </a:ext>
            </a:extLst>
          </p:cNvPr>
          <p:cNvSpPr/>
          <p:nvPr/>
        </p:nvSpPr>
        <p:spPr>
          <a:xfrm>
            <a:off x="8085796" y="4181892"/>
            <a:ext cx="3520965" cy="68317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BE übermittelt MM via SOAP Dienst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6381A0A-B0ED-1C23-E1CA-8211B59C93BD}"/>
              </a:ext>
            </a:extLst>
          </p:cNvPr>
          <p:cNvSpPr/>
          <p:nvPr/>
        </p:nvSpPr>
        <p:spPr>
          <a:xfrm>
            <a:off x="8085795" y="4943920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Abruf von abgegebenen MM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2D56612-D524-49ED-BA83-7ED94AFB63C1}"/>
              </a:ext>
            </a:extLst>
          </p:cNvPr>
          <p:cNvSpPr/>
          <p:nvPr/>
        </p:nvSpPr>
        <p:spPr>
          <a:xfrm>
            <a:off x="8094287" y="5705948"/>
            <a:ext cx="3520965" cy="6831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Fehlermeldungen und Tests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BB0382F-911C-547E-B975-2B9C5281F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887" y="1622580"/>
            <a:ext cx="1221873" cy="12218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4E0CC92-81F2-57FA-FB53-847BD2562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25" y="1731103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82DD1-238B-12EB-5AC9-711AA588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5C76FC-FFB6-48B5-3C62-D95FBD931E3D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09B53F-1967-76D1-756E-EE124B1B88A3}"/>
              </a:ext>
            </a:extLst>
          </p:cNvPr>
          <p:cNvSpPr txBox="1"/>
          <p:nvPr/>
        </p:nvSpPr>
        <p:spPr>
          <a:xfrm>
            <a:off x="189185" y="190372"/>
            <a:ext cx="403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System Architektur (AG2)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B2437-4803-56DF-7AC0-1460C55132FC}"/>
              </a:ext>
            </a:extLst>
          </p:cNvPr>
          <p:cNvSpPr txBox="1"/>
          <p:nvPr/>
        </p:nvSpPr>
        <p:spPr>
          <a:xfrm>
            <a:off x="189186" y="556331"/>
            <a:ext cx="2322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Grafik (Statisch)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4" name="Picture 3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7EC6B22F-D520-0006-3D01-3E2157393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9" y="1098969"/>
            <a:ext cx="10683242" cy="5171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92CD2D-97D0-EF4F-511A-23EF5EEA61F7}"/>
              </a:ext>
            </a:extLst>
          </p:cNvPr>
          <p:cNvSpPr txBox="1"/>
          <p:nvPr/>
        </p:nvSpPr>
        <p:spPr>
          <a:xfrm>
            <a:off x="655530" y="6252118"/>
            <a:ext cx="10937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Pfad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: software-projects/projects/ear-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stiftung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architekturbeschreibung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archbeschreibung.docx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5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2C16-4BE2-8F09-632B-A525EE77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CC735E-E8B4-A468-56A5-486F30CD2DA8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870394-1926-8222-FAA8-EF9FD12DBF7E}"/>
              </a:ext>
            </a:extLst>
          </p:cNvPr>
          <p:cNvSpPr txBox="1"/>
          <p:nvPr/>
        </p:nvSpPr>
        <p:spPr>
          <a:xfrm>
            <a:off x="189185" y="190372"/>
            <a:ext cx="3930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System Architektur (AG3)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FAB64-525C-3C7B-0D55-5A4EC347CCD1}"/>
              </a:ext>
            </a:extLst>
          </p:cNvPr>
          <p:cNvSpPr txBox="1"/>
          <p:nvPr/>
        </p:nvSpPr>
        <p:spPr>
          <a:xfrm>
            <a:off x="189185" y="556331"/>
            <a:ext cx="3468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Ausgewählten DB und JWT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60295-CB74-67A8-B05A-570FBADEB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162" y="1463564"/>
            <a:ext cx="3930871" cy="393087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1292E42-AE4A-E778-95B8-DE9C08A46D1C}"/>
              </a:ext>
            </a:extLst>
          </p:cNvPr>
          <p:cNvGrpSpPr/>
          <p:nvPr/>
        </p:nvGrpSpPr>
        <p:grpSpPr>
          <a:xfrm>
            <a:off x="6908800" y="1260846"/>
            <a:ext cx="3321269" cy="4382334"/>
            <a:chOff x="6908800" y="1260846"/>
            <a:chExt cx="3321269" cy="43823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96845F-6AF5-76BD-0EBA-1ABDD5B3B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8800" y="2391980"/>
              <a:ext cx="3251200" cy="3251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16EAAD-8C97-368C-5A8E-45DAC57D3E42}"/>
                </a:ext>
              </a:extLst>
            </p:cNvPr>
            <p:cNvSpPr txBox="1"/>
            <p:nvPr/>
          </p:nvSpPr>
          <p:spPr>
            <a:xfrm>
              <a:off x="8366930" y="1260846"/>
              <a:ext cx="18631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/>
                <a:t>JWT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1389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879D-61EC-8344-DDBF-A472E4E2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E3A31C-37F0-980F-CF76-CAB60CB33F7C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2BF4F3-6D22-BD0C-46AE-E8A584F83DAD}"/>
              </a:ext>
            </a:extLst>
          </p:cNvPr>
          <p:cNvSpPr txBox="1"/>
          <p:nvPr/>
        </p:nvSpPr>
        <p:spPr>
          <a:xfrm>
            <a:off x="189185" y="190372"/>
            <a:ext cx="3878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System Architektur (AG3)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5E931-BD01-B497-B2A3-5C4391FF7FF2}"/>
              </a:ext>
            </a:extLst>
          </p:cNvPr>
          <p:cNvSpPr txBox="1"/>
          <p:nvPr/>
        </p:nvSpPr>
        <p:spPr>
          <a:xfrm>
            <a:off x="189185" y="556331"/>
            <a:ext cx="3468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DB und JWT (ADRs) fort.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84B924-1BEA-1256-A81E-ACBA8A47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462" y="1612462"/>
            <a:ext cx="3633076" cy="3633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421D91-CA85-D1A4-9D52-7D1EDC811458}"/>
              </a:ext>
            </a:extLst>
          </p:cNvPr>
          <p:cNvSpPr txBox="1"/>
          <p:nvPr/>
        </p:nvSpPr>
        <p:spPr>
          <a:xfrm>
            <a:off x="662151" y="5985642"/>
            <a:ext cx="8345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Pfad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: ear-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stiftung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mengenmeld-fe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mengenmeld-fe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/docs/architecture/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adrç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78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0A84B-601D-33E9-0E67-160DAB54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AF46BF-1FDB-A6E4-67ED-CC813AA0FCCB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4424C-756B-95C8-601B-4C01BCE8BE1E}"/>
              </a:ext>
            </a:extLst>
          </p:cNvPr>
          <p:cNvSpPr txBox="1"/>
          <p:nvPr/>
        </p:nvSpPr>
        <p:spPr>
          <a:xfrm>
            <a:off x="189186" y="190372"/>
            <a:ext cx="346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System Workflow (AG1)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E0D64-BBBA-4CA8-CC69-F75FFAF64E64}"/>
              </a:ext>
            </a:extLst>
          </p:cNvPr>
          <p:cNvSpPr txBox="1"/>
          <p:nvPr/>
        </p:nvSpPr>
        <p:spPr>
          <a:xfrm>
            <a:off x="189185" y="556331"/>
            <a:ext cx="400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Jira Epics, User Stories und Tasks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03383-C17A-35B4-1423-E94502A3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503" y="1517872"/>
            <a:ext cx="3251200" cy="325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86BF60-C3CA-BFBF-ACE3-CE5C6F75FB96}"/>
              </a:ext>
            </a:extLst>
          </p:cNvPr>
          <p:cNvSpPr txBox="1"/>
          <p:nvPr/>
        </p:nvSpPr>
        <p:spPr>
          <a:xfrm>
            <a:off x="5239406" y="5016962"/>
            <a:ext cx="907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176DA7"/>
                </a:solidFill>
                <a:hlinkClick r:id="rId3"/>
              </a:rPr>
              <a:t>Jira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FF914-D319-B81F-1AA4-5F0AA753FA81}"/>
              </a:ext>
            </a:extLst>
          </p:cNvPr>
          <p:cNvSpPr txBox="1"/>
          <p:nvPr/>
        </p:nvSpPr>
        <p:spPr>
          <a:xfrm>
            <a:off x="662150" y="5985642"/>
            <a:ext cx="11529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Tickets Pfad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: software-projects/projects/ear-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stiftung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jira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-tickets/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Tickets.csv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943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1247-0A70-399F-965B-0FDDE602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34635A-ECF0-6E6A-3219-773073251BFE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CF8C76-A644-65C9-82DB-13D06B1277E9}"/>
              </a:ext>
            </a:extLst>
          </p:cNvPr>
          <p:cNvSpPr txBox="1"/>
          <p:nvPr/>
        </p:nvSpPr>
        <p:spPr>
          <a:xfrm>
            <a:off x="189186" y="190372"/>
            <a:ext cx="346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Frontend Mockup (AG4)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4C474-2290-7EC2-23E5-B87109171342}"/>
              </a:ext>
            </a:extLst>
          </p:cNvPr>
          <p:cNvSpPr txBox="1"/>
          <p:nvPr/>
        </p:nvSpPr>
        <p:spPr>
          <a:xfrm>
            <a:off x="189185" y="556331"/>
            <a:ext cx="400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Mittels Figma</a:t>
            </a:r>
            <a:endParaRPr lang="de-DE" sz="2400" dirty="0">
              <a:solidFill>
                <a:srgbClr val="176DA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A8D7D-6723-9650-632B-78972B836D31}"/>
              </a:ext>
            </a:extLst>
          </p:cNvPr>
          <p:cNvSpPr txBox="1"/>
          <p:nvPr/>
        </p:nvSpPr>
        <p:spPr>
          <a:xfrm>
            <a:off x="5228895" y="5143086"/>
            <a:ext cx="14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176DA7"/>
                </a:solidFill>
                <a:hlinkClick r:id="rId2"/>
              </a:rPr>
              <a:t>Figma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C27E6-BA77-2D9E-D9EE-8300A9CF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180340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0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B20F2-9574-DFF0-1E27-81AD1B2C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E33919-84A7-1D2D-8FD7-55A043299013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C4E3CC-73FD-FBBA-E0AD-97F18FDA721F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BE-Implementierung (AG5)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2E723-3096-518C-94A3-FA877294CFA6}"/>
              </a:ext>
            </a:extLst>
          </p:cNvPr>
          <p:cNvSpPr txBox="1"/>
          <p:nvPr/>
        </p:nvSpPr>
        <p:spPr>
          <a:xfrm>
            <a:off x="189185" y="556331"/>
            <a:ext cx="400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Java und Spring Boot</a:t>
            </a:r>
            <a:endParaRPr lang="de-DE" sz="2400" dirty="0">
              <a:solidFill>
                <a:srgbClr val="176DA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91668-195A-F98C-DA6D-16D13F90A9E6}"/>
              </a:ext>
            </a:extLst>
          </p:cNvPr>
          <p:cNvSpPr txBox="1"/>
          <p:nvPr/>
        </p:nvSpPr>
        <p:spPr>
          <a:xfrm>
            <a:off x="4169979" y="786189"/>
            <a:ext cx="38520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76DA7"/>
                </a:solidFill>
              </a:rPr>
              <a:t>Entities</a:t>
            </a:r>
            <a:endParaRPr lang="en-US" sz="9000" b="1" dirty="0">
              <a:solidFill>
                <a:srgbClr val="176DA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D7E3A-52FA-C2B3-D7F8-609FCFB7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231" y="-33804"/>
            <a:ext cx="805793" cy="805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09179-C8EC-A3BF-8B1E-799744CD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24" y="155386"/>
            <a:ext cx="616603" cy="6166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E5EDCC-4900-FEF1-069A-D6DE3C6BF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65" y="1753616"/>
            <a:ext cx="4007069" cy="4147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435F2B-B438-0CA9-ADF0-D49F9FBC6C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61" y="5901559"/>
            <a:ext cx="686669" cy="68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9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7091-786A-BC81-6CB4-44AAC1B7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DD8B4D-6D11-0EA9-CCA7-802045B13879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B93FB1-6168-4C28-DB77-6AE12A0FEF74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BE-Implementierung (AG5)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B1420-0852-17DE-9FB1-0FAEE1471771}"/>
              </a:ext>
            </a:extLst>
          </p:cNvPr>
          <p:cNvSpPr txBox="1"/>
          <p:nvPr/>
        </p:nvSpPr>
        <p:spPr>
          <a:xfrm>
            <a:off x="189185" y="556331"/>
            <a:ext cx="400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Java und Spring Boot</a:t>
            </a:r>
            <a:endParaRPr lang="de-DE" sz="2400" dirty="0">
              <a:solidFill>
                <a:srgbClr val="176DA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0C776-9A7C-A500-F66F-E20E05C4FBA7}"/>
              </a:ext>
            </a:extLst>
          </p:cNvPr>
          <p:cNvSpPr txBox="1"/>
          <p:nvPr/>
        </p:nvSpPr>
        <p:spPr>
          <a:xfrm>
            <a:off x="0" y="2192776"/>
            <a:ext cx="338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260AC-406F-A744-1425-DCADAE6B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231" y="-33804"/>
            <a:ext cx="805793" cy="805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AD561A-3645-B0CB-228A-0BAFE9E23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24" y="155386"/>
            <a:ext cx="616603" cy="6166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F3834E-6A06-E138-D287-D48D15F15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09" y="5901557"/>
            <a:ext cx="686669" cy="686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C0A4B1-31D0-324B-4E17-2743A4D5F3B3}"/>
              </a:ext>
            </a:extLst>
          </p:cNvPr>
          <p:cNvSpPr txBox="1"/>
          <p:nvPr/>
        </p:nvSpPr>
        <p:spPr>
          <a:xfrm>
            <a:off x="2845650" y="2192776"/>
            <a:ext cx="338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Service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AAF948-0F59-ACAD-4BC1-AD70DFC5C96A}"/>
              </a:ext>
            </a:extLst>
          </p:cNvPr>
          <p:cNvSpPr txBox="1"/>
          <p:nvPr/>
        </p:nvSpPr>
        <p:spPr>
          <a:xfrm>
            <a:off x="6014520" y="2226067"/>
            <a:ext cx="184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6FFCBF-719C-02A0-4E73-FE5C9081FEC5}"/>
              </a:ext>
            </a:extLst>
          </p:cNvPr>
          <p:cNvSpPr txBox="1"/>
          <p:nvPr/>
        </p:nvSpPr>
        <p:spPr>
          <a:xfrm>
            <a:off x="9207062" y="2192775"/>
            <a:ext cx="184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SOAP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6ABEB0-1D8D-72A1-AD90-420308A6E9A5}"/>
              </a:ext>
            </a:extLst>
          </p:cNvPr>
          <p:cNvSpPr txBox="1"/>
          <p:nvPr/>
        </p:nvSpPr>
        <p:spPr>
          <a:xfrm>
            <a:off x="496612" y="3177185"/>
            <a:ext cx="2979670" cy="190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MengenmeldungRepository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Mittels JPA und Pagenation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5847A2-3BA1-58C4-3845-BDD27D431ABA}"/>
              </a:ext>
            </a:extLst>
          </p:cNvPr>
          <p:cNvSpPr txBox="1"/>
          <p:nvPr/>
        </p:nvSpPr>
        <p:spPr>
          <a:xfrm>
            <a:off x="3633937" y="3177185"/>
            <a:ext cx="3478919" cy="11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CurrentUserService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MengenmeldungService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B97701-7032-117D-85B0-1C97B9089344}"/>
              </a:ext>
            </a:extLst>
          </p:cNvPr>
          <p:cNvSpPr txBox="1"/>
          <p:nvPr/>
        </p:nvSpPr>
        <p:spPr>
          <a:xfrm>
            <a:off x="6324617" y="3213942"/>
            <a:ext cx="2882445" cy="11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MengenmeldungController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0DC2D3-8AA4-FC3B-DD55-2CCA278B9FEC}"/>
              </a:ext>
            </a:extLst>
          </p:cNvPr>
          <p:cNvSpPr txBox="1"/>
          <p:nvPr/>
        </p:nvSpPr>
        <p:spPr>
          <a:xfrm>
            <a:off x="9312177" y="3177184"/>
            <a:ext cx="2743190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SoapClient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SoapClientImp</a:t>
            </a:r>
          </a:p>
        </p:txBody>
      </p:sp>
    </p:spTree>
    <p:extLst>
      <p:ext uri="{BB962C8B-B14F-4D97-AF65-F5344CB8AC3E}">
        <p14:creationId xmlns:p14="http://schemas.microsoft.com/office/powerpoint/2010/main" val="270091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C14C-62A8-9C92-30FA-57A57091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DE2757-5A3F-8288-0905-DB6EA2F6FF9D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C59EA3-D0BE-E244-FF64-1FE9FBF8F1E5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BE-Implementierung (AG6)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BEF59-EA52-F944-84D8-6B717A20D3A3}"/>
              </a:ext>
            </a:extLst>
          </p:cNvPr>
          <p:cNvSpPr txBox="1"/>
          <p:nvPr/>
        </p:nvSpPr>
        <p:spPr>
          <a:xfrm>
            <a:off x="189185" y="556331"/>
            <a:ext cx="4004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Java und Spring Boot</a:t>
            </a:r>
            <a:endParaRPr lang="de-DE" sz="2400" dirty="0">
              <a:solidFill>
                <a:srgbClr val="176DA7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77EAB-6836-9342-92D8-3B2A9959C5BB}"/>
              </a:ext>
            </a:extLst>
          </p:cNvPr>
          <p:cNvSpPr txBox="1"/>
          <p:nvPr/>
        </p:nvSpPr>
        <p:spPr>
          <a:xfrm>
            <a:off x="892063" y="2192776"/>
            <a:ext cx="338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Code Quality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42167-833D-ABA1-6A59-5A5164E5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231" y="-33804"/>
            <a:ext cx="805793" cy="805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898D3-6B13-F99A-AB5A-6B9D533D4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024" y="155386"/>
            <a:ext cx="616603" cy="6166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67D6A9-50EE-4A2C-ADC5-1ED16828A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09" y="5901557"/>
            <a:ext cx="686669" cy="686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EAC59E-5C9C-CEEF-7084-366B74DA5C27}"/>
              </a:ext>
            </a:extLst>
          </p:cNvPr>
          <p:cNvSpPr txBox="1"/>
          <p:nvPr/>
        </p:nvSpPr>
        <p:spPr>
          <a:xfrm>
            <a:off x="5173714" y="2209422"/>
            <a:ext cx="3389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Monitoring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69F69-5937-8CF9-7806-E31E9BDE271E}"/>
              </a:ext>
            </a:extLst>
          </p:cNvPr>
          <p:cNvSpPr txBox="1"/>
          <p:nvPr/>
        </p:nvSpPr>
        <p:spPr>
          <a:xfrm>
            <a:off x="9455365" y="2226067"/>
            <a:ext cx="184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76DA7"/>
                </a:solidFill>
              </a:rPr>
              <a:t>Tests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C61F30-5BE2-8F07-17D5-BD785A7FC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254" y="2372131"/>
            <a:ext cx="2350815" cy="2350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0C1FD0-D4DF-BA99-9B51-452538041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955" y="4547551"/>
            <a:ext cx="1100090" cy="1100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65D43C-1E01-0974-C074-14CA447241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659" y="4439904"/>
            <a:ext cx="1315383" cy="1315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BA6D44-8E81-FE63-A3FB-95DDEFB470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132" y="2919549"/>
            <a:ext cx="1398752" cy="13987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228A61-7F68-B14F-45EF-A3B335DCA6DA}"/>
              </a:ext>
            </a:extLst>
          </p:cNvPr>
          <p:cNvSpPr txBox="1"/>
          <p:nvPr/>
        </p:nvSpPr>
        <p:spPr>
          <a:xfrm>
            <a:off x="9455365" y="3054433"/>
            <a:ext cx="2743190" cy="227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Unit Tests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Integration Tests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UserCIT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MengnemldungCIT</a:t>
            </a:r>
          </a:p>
        </p:txBody>
      </p:sp>
    </p:spTree>
    <p:extLst>
      <p:ext uri="{BB962C8B-B14F-4D97-AF65-F5344CB8AC3E}">
        <p14:creationId xmlns:p14="http://schemas.microsoft.com/office/powerpoint/2010/main" val="3495439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948C-D329-2F7C-3B65-C361A54E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D8FF064-F8C8-BF68-7114-1B47EA507935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4834AF9-F231-F95A-F239-FE0BECC148D1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FE-Implementierung (AG5)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805BE-2281-D8BB-01AE-425125330C28}"/>
              </a:ext>
            </a:extLst>
          </p:cNvPr>
          <p:cNvSpPr txBox="1"/>
          <p:nvPr/>
        </p:nvSpPr>
        <p:spPr>
          <a:xfrm>
            <a:off x="189185" y="556331"/>
            <a:ext cx="5223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TS, Angular, Bootstrap und ng-bootstrap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C92A82-9213-59FE-9018-EE7D739F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652" y="143406"/>
            <a:ext cx="616604" cy="616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882DF7-3D44-6ED2-C881-213600F6F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189" y="143406"/>
            <a:ext cx="616604" cy="6166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CE9EBC-27BA-079A-7CCF-251A06475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597" y="149596"/>
            <a:ext cx="681121" cy="6811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35DDB4-AB0A-8412-8108-86AD85543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33" y="5755287"/>
            <a:ext cx="702441" cy="7024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E502EB-E8D0-832C-88E9-CC0412E35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1231900"/>
            <a:ext cx="2647950" cy="52135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2A5CE01-317D-967C-B1D2-74A9D8C7B2F8}"/>
              </a:ext>
            </a:extLst>
          </p:cNvPr>
          <p:cNvSpPr txBox="1"/>
          <p:nvPr/>
        </p:nvSpPr>
        <p:spPr>
          <a:xfrm>
            <a:off x="189184" y="1152872"/>
            <a:ext cx="2480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76DA7"/>
                </a:solidFill>
              </a:rPr>
              <a:t>Komponenten</a:t>
            </a:r>
            <a:endParaRPr lang="de-DE" sz="3200" b="1" dirty="0">
              <a:solidFill>
                <a:srgbClr val="176D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7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4987-2761-4E47-1B9B-AD12887F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085705-370B-ED1C-33FF-432F33CFC3CC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BD5BD5-623D-35AB-BB72-3CD477E4B029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FE-Implementierung (AG5)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77F92-B468-FBDE-E6BA-190C4B3E6A21}"/>
              </a:ext>
            </a:extLst>
          </p:cNvPr>
          <p:cNvSpPr txBox="1"/>
          <p:nvPr/>
        </p:nvSpPr>
        <p:spPr>
          <a:xfrm>
            <a:off x="189185" y="556331"/>
            <a:ext cx="5223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176DA7"/>
                </a:solidFill>
              </a:rPr>
              <a:t>TS, Angular, Bootstrap und ng-bootstrap</a:t>
            </a:r>
            <a:endParaRPr lang="de-DE" sz="2400" dirty="0">
              <a:solidFill>
                <a:srgbClr val="176DA7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D56992-272F-458E-7E0F-D07F3214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652" y="143406"/>
            <a:ext cx="616604" cy="616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384B37-5179-AA14-3ED7-F9C189290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189" y="143406"/>
            <a:ext cx="616604" cy="6166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61CD19-3CE8-80AE-7EF7-AE81840D1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597" y="149596"/>
            <a:ext cx="681121" cy="6811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334814-68A9-C949-0678-55DFA277D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33" y="5755287"/>
            <a:ext cx="702441" cy="70244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B1E4B8A-8B06-F0D2-267B-43EEB811BDF9}"/>
              </a:ext>
            </a:extLst>
          </p:cNvPr>
          <p:cNvSpPr txBox="1"/>
          <p:nvPr/>
        </p:nvSpPr>
        <p:spPr>
          <a:xfrm>
            <a:off x="189185" y="1168329"/>
            <a:ext cx="1103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76DA7"/>
                </a:solidFill>
              </a:rPr>
              <a:t>Tests</a:t>
            </a:r>
            <a:endParaRPr lang="de-DE" sz="3200" b="1" dirty="0">
              <a:solidFill>
                <a:srgbClr val="176DA7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5BEE5-4CAC-F656-1DCE-BEFE58C50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524" y="2731814"/>
            <a:ext cx="1863832" cy="18638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D2FE1A-212C-DB9D-D3B5-2FF9A33D3910}"/>
              </a:ext>
            </a:extLst>
          </p:cNvPr>
          <p:cNvSpPr txBox="1"/>
          <p:nvPr/>
        </p:nvSpPr>
        <p:spPr>
          <a:xfrm>
            <a:off x="2426136" y="1904189"/>
            <a:ext cx="1863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76DA7"/>
                </a:solidFill>
              </a:rPr>
              <a:t>Unit Tests</a:t>
            </a:r>
            <a:endParaRPr lang="de-DE" sz="3200" b="1" dirty="0">
              <a:solidFill>
                <a:srgbClr val="176DA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17463-AB4D-7E8A-5BC1-D4F8CEB415D7}"/>
              </a:ext>
            </a:extLst>
          </p:cNvPr>
          <p:cNvSpPr txBox="1"/>
          <p:nvPr/>
        </p:nvSpPr>
        <p:spPr>
          <a:xfrm>
            <a:off x="7902034" y="1904189"/>
            <a:ext cx="2934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76DA7"/>
                </a:solidFill>
              </a:rPr>
              <a:t>E2E (Playwright)</a:t>
            </a:r>
            <a:endParaRPr lang="de-DE" sz="3200" b="1" dirty="0">
              <a:solidFill>
                <a:srgbClr val="176DA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92314B-469C-53B9-58E4-E1BD03F43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917" y="2208271"/>
            <a:ext cx="2441457" cy="244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2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DB1E-14B1-33BA-1E2E-07D9FCE3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CC2588-C99B-3470-8728-1C650D9BABF6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4CB1ED-E4CB-0478-DB80-278869B5BD8E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GITLAB CI/CD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E595E-6AD1-6A86-D2E4-4B5F14A8A9F8}"/>
              </a:ext>
            </a:extLst>
          </p:cNvPr>
          <p:cNvSpPr txBox="1"/>
          <p:nvPr/>
        </p:nvSpPr>
        <p:spPr>
          <a:xfrm>
            <a:off x="189185" y="556331"/>
            <a:ext cx="5223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76DA7"/>
                </a:solidFill>
              </a:rPr>
              <a:t>Für FE und BE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7D65A3-55B8-6A3B-5D81-67EF5B2C98FA}"/>
              </a:ext>
            </a:extLst>
          </p:cNvPr>
          <p:cNvSpPr txBox="1"/>
          <p:nvPr/>
        </p:nvSpPr>
        <p:spPr>
          <a:xfrm>
            <a:off x="189185" y="1168329"/>
            <a:ext cx="1313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76DA7"/>
                </a:solidFill>
              </a:rPr>
              <a:t>CI</a:t>
            </a:r>
            <a:r>
              <a:rPr lang="en-US" sz="2800" b="1" dirty="0">
                <a:solidFill>
                  <a:srgbClr val="176DA7"/>
                </a:solidFill>
              </a:rPr>
              <a:t>/CD</a:t>
            </a:r>
            <a:endParaRPr lang="de-DE" sz="3200" b="1" dirty="0">
              <a:solidFill>
                <a:srgbClr val="176DA7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FFB5D-5164-5AC1-2262-F94D25AAB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628" y="1908954"/>
            <a:ext cx="3040092" cy="3040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F486B5-A337-DB8A-5C4C-1B095334E13D}"/>
              </a:ext>
            </a:extLst>
          </p:cNvPr>
          <p:cNvSpPr txBox="1"/>
          <p:nvPr/>
        </p:nvSpPr>
        <p:spPr>
          <a:xfrm>
            <a:off x="662151" y="5985642"/>
            <a:ext cx="5223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Repo Link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: https://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gitlab.com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/ear-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stiftung</a:t>
            </a:r>
            <a:endParaRPr lang="de-DE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11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0F18-BF4D-D3FB-B5BF-4CAC5692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DF5F6F-A667-0A02-4900-7ACDB4FCF517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7A2C9F-EA48-7EB7-323C-6E86150EAA4D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Ausblick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0299B-B5F4-4477-9DD9-A9BB91FC9A4F}"/>
              </a:ext>
            </a:extLst>
          </p:cNvPr>
          <p:cNvSpPr txBox="1"/>
          <p:nvPr/>
        </p:nvSpPr>
        <p:spPr>
          <a:xfrm>
            <a:off x="189185" y="556331"/>
            <a:ext cx="5223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76DA7"/>
                </a:solidFill>
              </a:rPr>
              <a:t>Wie ich mich vorbereiten kann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E562E4-27CA-9998-249E-CB341CAE004D}"/>
              </a:ext>
            </a:extLst>
          </p:cNvPr>
          <p:cNvSpPr txBox="1"/>
          <p:nvPr/>
        </p:nvSpPr>
        <p:spPr>
          <a:xfrm>
            <a:off x="189185" y="1971774"/>
            <a:ext cx="9461591" cy="29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rgbClr val="176DA7"/>
              </a:buClr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rgbClr val="176DA7"/>
                </a:solidFill>
              </a:rPr>
              <a:t>Informiere mich mehr über JavaEE</a:t>
            </a:r>
          </a:p>
          <a:p>
            <a:pPr marL="285750" indent="-285750">
              <a:lnSpc>
                <a:spcPct val="200000"/>
              </a:lnSpc>
              <a:buClr>
                <a:srgbClr val="176DA7"/>
              </a:buClr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rgbClr val="176DA7"/>
                </a:solidFill>
              </a:rPr>
              <a:t>JAVA DSA wiederholen (DSA generell)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sz="3200" dirty="0">
                <a:solidFill>
                  <a:srgbClr val="176DA7"/>
                </a:solidFill>
              </a:rPr>
              <a:t>Überlegen wie ich KI für die Arbeit verwenden kann </a:t>
            </a:r>
          </a:p>
        </p:txBody>
      </p:sp>
    </p:spTree>
    <p:extLst>
      <p:ext uri="{BB962C8B-B14F-4D97-AF65-F5344CB8AC3E}">
        <p14:creationId xmlns:p14="http://schemas.microsoft.com/office/powerpoint/2010/main" val="2314158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7B43-6E7B-D923-C20F-A7FE49E7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90992B-CD66-9A7B-CBCF-64B48232F924}"/>
              </a:ext>
            </a:extLst>
          </p:cNvPr>
          <p:cNvCxnSpPr>
            <a:cxnSpLocks/>
          </p:cNvCxnSpPr>
          <p:nvPr/>
        </p:nvCxnSpPr>
        <p:spPr>
          <a:xfrm>
            <a:off x="0" y="956441"/>
            <a:ext cx="12192000" cy="0"/>
          </a:xfrm>
          <a:prstGeom prst="line">
            <a:avLst/>
          </a:prstGeom>
          <a:ln w="5715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3902C0-CF91-7C10-ED04-52D289A3541C}"/>
              </a:ext>
            </a:extLst>
          </p:cNvPr>
          <p:cNvSpPr txBox="1"/>
          <p:nvPr/>
        </p:nvSpPr>
        <p:spPr>
          <a:xfrm>
            <a:off x="189186" y="190372"/>
            <a:ext cx="400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rgbClr val="0A4CA7"/>
                </a:solidFill>
              </a:rPr>
              <a:t>Danke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7F8DE-724F-A8A4-274E-E6B47C10F4C4}"/>
              </a:ext>
            </a:extLst>
          </p:cNvPr>
          <p:cNvSpPr txBox="1"/>
          <p:nvPr/>
        </p:nvSpPr>
        <p:spPr>
          <a:xfrm>
            <a:off x="1596258" y="3044279"/>
            <a:ext cx="9890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solidFill>
                  <a:srgbClr val="176DA7"/>
                </a:solidFill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300412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</TotalTime>
  <Words>305</Words>
  <Application>Microsoft Macintosh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Eid, Abdallah</dc:creator>
  <cp:lastModifiedBy>Eid, Abdallah</cp:lastModifiedBy>
  <cp:revision>4</cp:revision>
  <dcterms:created xsi:type="dcterms:W3CDTF">2026-01-18T13:33:36Z</dcterms:created>
  <dcterms:modified xsi:type="dcterms:W3CDTF">2026-01-19T19:35:29Z</dcterms:modified>
</cp:coreProperties>
</file>